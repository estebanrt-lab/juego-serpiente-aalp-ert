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59" r:id="rId4"/>
    <p:sldId id="281" r:id="rId5"/>
    <p:sldId id="282" r:id="rId6"/>
    <p:sldId id="266" r:id="rId7"/>
    <p:sldId id="271" r:id="rId8"/>
    <p:sldId id="283" r:id="rId9"/>
    <p:sldId id="277" r:id="rId10"/>
    <p:sldId id="269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1A183F-2FFE-4A6A-87B7-3B120197F74D}">
  <a:tblStyle styleId="{091A183F-2FFE-4A6A-87B7-3B120197F7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14D538C3-5B95-55C0-B31F-E9C270E79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D03E1125-C780-7B97-705D-B0620D7E2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79485B9E-EFEF-2C97-86F2-9331171B6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431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D2E4DDDB-4EEF-02E4-8CDF-7187CD40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AE52D812-97C0-4FF1-09FB-80EEB997A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E14C2DE8-AC56-ABBA-905E-4F5C5B095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17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75C0DA45-ED3C-728B-68BD-7E95C2C1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73D7639C-507D-1112-4385-819424B3B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D4C85D5-A1D6-54AE-B7B4-8F3B83AF6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688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5" r:id="rId8"/>
    <p:sldLayoutId id="2147483666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Evaluación </a:t>
            </a:r>
            <a:r>
              <a:rPr lang="es-ES" noProof="0" dirty="0">
                <a:solidFill>
                  <a:schemeClr val="accent2"/>
                </a:solidFill>
              </a:rPr>
              <a:t>‘En contacto’ </a:t>
            </a:r>
            <a:endParaRPr lang="es-ES" noProof="0"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Esteban Rojas Tobar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Ingeniería en Inteligencia Artificial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Universidad Internacional del Ecuador &gt;</a:t>
            </a: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 </a:t>
            </a: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accent6"/>
                </a:solidFill>
              </a:rPr>
              <a:t>[</a:t>
            </a:r>
            <a:r>
              <a:rPr lang="es-ES" noProof="0" dirty="0">
                <a:solidFill>
                  <a:schemeClr val="accent1"/>
                </a:solidFill>
              </a:rPr>
              <a:t>Con el </a:t>
            </a:r>
            <a:r>
              <a:rPr lang="es-ES" noProof="0" dirty="0">
                <a:solidFill>
                  <a:schemeClr val="lt1"/>
                </a:solidFill>
              </a:rPr>
              <a:t> </a:t>
            </a:r>
            <a:r>
              <a:rPr lang="es-ES" noProof="0" dirty="0">
                <a:solidFill>
                  <a:schemeClr val="lt2"/>
                </a:solidFill>
              </a:rPr>
              <a:t>Docente</a:t>
            </a:r>
            <a:r>
              <a:rPr lang="es-ES" noProof="0" dirty="0">
                <a:solidFill>
                  <a:schemeClr val="accent6"/>
                </a:solidFill>
              </a:rPr>
              <a:t>] </a:t>
            </a: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3000" noProof="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01</a:t>
            </a:r>
          </a:p>
        </p:txBody>
      </p:sp>
      <p:sp>
        <p:nvSpPr>
          <p:cNvPr id="481" name="Google Shape;481;p29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Conceptos básicos y selección del programa</a:t>
            </a:r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45865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Unidad 1</a:t>
            </a:r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02</a:t>
            </a:r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Primer avance del juego (video)</a:t>
            </a:r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4" y="2419850"/>
            <a:ext cx="354836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Unidad 2 y 3</a:t>
            </a:r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03</a:t>
            </a:r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Juego terminado (video)</a:t>
            </a:r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Unidad 4</a:t>
            </a:r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Tabla de </a:t>
            </a:r>
            <a:r>
              <a:rPr lang="es-ES" noProof="0" dirty="0">
                <a:solidFill>
                  <a:schemeClr val="accent2"/>
                </a:solidFill>
              </a:rPr>
              <a:t>‘Contenidos’</a:t>
            </a:r>
            <a:r>
              <a:rPr lang="es-ES" noProof="0" dirty="0"/>
              <a:t> </a:t>
            </a:r>
            <a:r>
              <a:rPr lang="es-ES" noProof="0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</a:t>
            </a: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</a:t>
            </a: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/>
              <a:t>01 </a:t>
            </a:r>
            <a:r>
              <a:rPr lang="es-ES" sz="50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585427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accent6"/>
                </a:solidFill>
              </a:rPr>
              <a:t>[</a:t>
            </a:r>
            <a:r>
              <a:rPr lang="es-ES" noProof="0" dirty="0">
                <a:solidFill>
                  <a:schemeClr val="accent1"/>
                </a:solidFill>
              </a:rPr>
              <a:t>Unidad 1</a:t>
            </a:r>
            <a:r>
              <a:rPr lang="es-ES" noProof="0" dirty="0">
                <a:solidFill>
                  <a:schemeClr val="accent6"/>
                </a:solidFill>
              </a:rPr>
              <a:t>]</a:t>
            </a:r>
            <a:r>
              <a:rPr lang="es-ES" noProof="0" dirty="0">
                <a:solidFill>
                  <a:schemeClr val="accent1"/>
                </a:solidFill>
              </a:rPr>
              <a:t> </a:t>
            </a:r>
            <a:endParaRPr lang="es-ES" noProof="0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448124"/>
            <a:ext cx="3960900" cy="17372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Tipos de diagramas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Selección del Software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Diseño de funciones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noProof="0"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</a:t>
            </a: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F46F6E54-15E2-4916-E50D-B20D2FBC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969500ED-5533-BE0F-1A01-FE633127FD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Muestran qué hace el sistema &gt;</a:t>
            </a:r>
          </a:p>
        </p:txBody>
      </p:sp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98828C22-1564-8B7C-A379-FCE033ED63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00817" y="2538776"/>
            <a:ext cx="2212904" cy="420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Vista estática &gt;</a:t>
            </a:r>
          </a:p>
        </p:txBody>
      </p:sp>
      <p:sp>
        <p:nvSpPr>
          <p:cNvPr id="514" name="Google Shape;514;p31">
            <a:extLst>
              <a:ext uri="{FF2B5EF4-FFF2-40B4-BE49-F238E27FC236}">
                <a16:creationId xmlns:a16="http://schemas.microsoft.com/office/drawing/2014/main" id="{251F1380-9EE3-8F49-1ACD-7F9C1C2AB16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18025" y="2008076"/>
            <a:ext cx="2057154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2"/>
                </a:solidFill>
              </a:rPr>
              <a:t>Funcional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2"/>
                </a:solidFill>
              </a:rPr>
              <a:t>(Block </a:t>
            </a:r>
            <a:r>
              <a:rPr lang="es-ES" sz="1400" noProof="0" dirty="0" err="1">
                <a:solidFill>
                  <a:schemeClr val="accent2"/>
                </a:solidFill>
              </a:rPr>
              <a:t>Diagram</a:t>
            </a:r>
            <a:r>
              <a:rPr lang="es-ES" sz="1400" noProof="0" dirty="0">
                <a:solidFill>
                  <a:schemeClr val="accent2"/>
                </a:solidFill>
              </a:rPr>
              <a:t>)</a:t>
            </a:r>
            <a:r>
              <a:rPr lang="es-ES" sz="1400" noProof="0" dirty="0">
                <a:solidFill>
                  <a:schemeClr val="lt1"/>
                </a:solidFill>
              </a:rPr>
              <a:t> </a:t>
            </a:r>
            <a:r>
              <a:rPr lang="es-ES" sz="14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0006610B-A4C4-C452-4803-C1ACBCB55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49" y="621240"/>
            <a:ext cx="6365237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Diagramas de funcionalidad </a:t>
            </a:r>
            <a:r>
              <a:rPr lang="es-ES" noProof="0" dirty="0">
                <a:solidFill>
                  <a:schemeClr val="accent6"/>
                </a:solidFill>
              </a:rPr>
              <a:t>{</a:t>
            </a:r>
            <a:r>
              <a:rPr lang="es-ES" noProof="0" dirty="0"/>
              <a:t> </a:t>
            </a:r>
          </a:p>
        </p:txBody>
      </p:sp>
      <p:grpSp>
        <p:nvGrpSpPr>
          <p:cNvPr id="516" name="Google Shape;516;p31">
            <a:extLst>
              <a:ext uri="{FF2B5EF4-FFF2-40B4-BE49-F238E27FC236}">
                <a16:creationId xmlns:a16="http://schemas.microsoft.com/office/drawing/2014/main" id="{21D2C36F-040C-2D94-6889-82B5F4409311}"/>
              </a:ext>
            </a:extLst>
          </p:cNvPr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>
              <a:extLst>
                <a:ext uri="{FF2B5EF4-FFF2-40B4-BE49-F238E27FC236}">
                  <a16:creationId xmlns:a16="http://schemas.microsoft.com/office/drawing/2014/main" id="{FF50286F-1999-3242-35DD-53BBA876D5CF}"/>
                </a:ext>
              </a:extLst>
            </p:cNvPr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8" name="Google Shape;518;p31">
              <a:extLst>
                <a:ext uri="{FF2B5EF4-FFF2-40B4-BE49-F238E27FC236}">
                  <a16:creationId xmlns:a16="http://schemas.microsoft.com/office/drawing/2014/main" id="{70788CEF-0A7E-2B35-2DA8-64EE7D8B1BE6}"/>
                </a:ext>
              </a:extLst>
            </p:cNvPr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9" name="Google Shape;519;p31">
              <a:extLst>
                <a:ext uri="{FF2B5EF4-FFF2-40B4-BE49-F238E27FC236}">
                  <a16:creationId xmlns:a16="http://schemas.microsoft.com/office/drawing/2014/main" id="{1C75C053-41F5-0581-4EB8-9F0023BA6037}"/>
                </a:ext>
              </a:extLst>
            </p:cNvPr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0" name="Google Shape;520;p31">
              <a:extLst>
                <a:ext uri="{FF2B5EF4-FFF2-40B4-BE49-F238E27FC236}">
                  <a16:creationId xmlns:a16="http://schemas.microsoft.com/office/drawing/2014/main" id="{56A21A4C-B24F-1DB0-1A5A-A472ECF9D2E5}"/>
                </a:ext>
              </a:extLst>
            </p:cNvPr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1" name="Google Shape;521;p31">
              <a:extLst>
                <a:ext uri="{FF2B5EF4-FFF2-40B4-BE49-F238E27FC236}">
                  <a16:creationId xmlns:a16="http://schemas.microsoft.com/office/drawing/2014/main" id="{2715B61B-06E8-3CB0-3796-327C77E8AA33}"/>
                </a:ext>
              </a:extLst>
            </p:cNvPr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2" name="Google Shape;522;p31">
              <a:extLst>
                <a:ext uri="{FF2B5EF4-FFF2-40B4-BE49-F238E27FC236}">
                  <a16:creationId xmlns:a16="http://schemas.microsoft.com/office/drawing/2014/main" id="{56FC3FE3-C91C-84E9-860A-C8279E296F8C}"/>
                </a:ext>
              </a:extLst>
            </p:cNvPr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3" name="Google Shape;523;p31">
              <a:extLst>
                <a:ext uri="{FF2B5EF4-FFF2-40B4-BE49-F238E27FC236}">
                  <a16:creationId xmlns:a16="http://schemas.microsoft.com/office/drawing/2014/main" id="{D178077F-D922-BC4A-4463-9FEEAAE23402}"/>
                </a:ext>
              </a:extLst>
            </p:cNvPr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4" name="Google Shape;524;p31">
              <a:extLst>
                <a:ext uri="{FF2B5EF4-FFF2-40B4-BE49-F238E27FC236}">
                  <a16:creationId xmlns:a16="http://schemas.microsoft.com/office/drawing/2014/main" id="{58A9CB68-DECE-7877-48A8-236AB7AC4B5C}"/>
                </a:ext>
              </a:extLst>
            </p:cNvPr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5" name="Google Shape;525;p31">
              <a:extLst>
                <a:ext uri="{FF2B5EF4-FFF2-40B4-BE49-F238E27FC236}">
                  <a16:creationId xmlns:a16="http://schemas.microsoft.com/office/drawing/2014/main" id="{551C0864-A7FB-38E3-FEED-5453BD9013DB}"/>
                </a:ext>
              </a:extLst>
            </p:cNvPr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6" name="Google Shape;526;p31">
              <a:extLst>
                <a:ext uri="{FF2B5EF4-FFF2-40B4-BE49-F238E27FC236}">
                  <a16:creationId xmlns:a16="http://schemas.microsoft.com/office/drawing/2014/main" id="{FB876266-FE68-AD37-144F-42E438150B56}"/>
                </a:ext>
              </a:extLst>
            </p:cNvPr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7" name="Google Shape;527;p31">
              <a:extLst>
                <a:ext uri="{FF2B5EF4-FFF2-40B4-BE49-F238E27FC236}">
                  <a16:creationId xmlns:a16="http://schemas.microsoft.com/office/drawing/2014/main" id="{14775B72-B300-42AB-8CD3-DD6D9BB381F9}"/>
                </a:ext>
              </a:extLst>
            </p:cNvPr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8" name="Google Shape;528;p31">
              <a:extLst>
                <a:ext uri="{FF2B5EF4-FFF2-40B4-BE49-F238E27FC236}">
                  <a16:creationId xmlns:a16="http://schemas.microsoft.com/office/drawing/2014/main" id="{C2AEFF72-D231-1DC8-6136-42ADBBFEA1B7}"/>
                </a:ext>
              </a:extLst>
            </p:cNvPr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9" name="Google Shape;529;p31">
              <a:extLst>
                <a:ext uri="{FF2B5EF4-FFF2-40B4-BE49-F238E27FC236}">
                  <a16:creationId xmlns:a16="http://schemas.microsoft.com/office/drawing/2014/main" id="{E006FE59-35CE-43C6-B80B-65494CD8C44C}"/>
                </a:ext>
              </a:extLst>
            </p:cNvPr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0" name="Google Shape;530;p31">
              <a:extLst>
                <a:ext uri="{FF2B5EF4-FFF2-40B4-BE49-F238E27FC236}">
                  <a16:creationId xmlns:a16="http://schemas.microsoft.com/office/drawing/2014/main" id="{C3EFA81E-36B3-62E5-5A27-A9720F9E31CD}"/>
                </a:ext>
              </a:extLst>
            </p:cNvPr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1" name="Google Shape;531;p31">
              <a:extLst>
                <a:ext uri="{FF2B5EF4-FFF2-40B4-BE49-F238E27FC236}">
                  <a16:creationId xmlns:a16="http://schemas.microsoft.com/office/drawing/2014/main" id="{AEB716E1-C212-3461-EBC8-7BBB1BA1C526}"/>
                </a:ext>
              </a:extLst>
            </p:cNvPr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542" name="Google Shape;542;p31">
            <a:extLst>
              <a:ext uri="{FF2B5EF4-FFF2-40B4-BE49-F238E27FC236}">
                <a16:creationId xmlns:a16="http://schemas.microsoft.com/office/drawing/2014/main" id="{F2114C3C-6FBF-6E45-CFCD-2326A5133C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</a:t>
            </a:r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180F6327-9209-C758-4708-25CBCF4A1B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</a:t>
            </a: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7A3541E4-5E0A-594C-0D84-C6052444BB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545" name="Google Shape;545;p31">
            <a:extLst>
              <a:ext uri="{FF2B5EF4-FFF2-40B4-BE49-F238E27FC236}">
                <a16:creationId xmlns:a16="http://schemas.microsoft.com/office/drawing/2014/main" id="{AAB60258-0516-E2FE-60B8-C0FBA35CE612}"/>
              </a:ext>
            </a:extLst>
          </p:cNvPr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>
              <a:extLst>
                <a:ext uri="{FF2B5EF4-FFF2-40B4-BE49-F238E27FC236}">
                  <a16:creationId xmlns:a16="http://schemas.microsoft.com/office/drawing/2014/main" id="{7D54E0F8-3E9E-9264-DA36-93AAD3296A58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7" name="Google Shape;547;p31">
              <a:extLst>
                <a:ext uri="{FF2B5EF4-FFF2-40B4-BE49-F238E27FC236}">
                  <a16:creationId xmlns:a16="http://schemas.microsoft.com/office/drawing/2014/main" id="{B82A226B-2D84-249D-4910-38F9085B3672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grpSp>
        <p:nvGrpSpPr>
          <p:cNvPr id="551" name="Google Shape;551;p31">
            <a:extLst>
              <a:ext uri="{FF2B5EF4-FFF2-40B4-BE49-F238E27FC236}">
                <a16:creationId xmlns:a16="http://schemas.microsoft.com/office/drawing/2014/main" id="{95F99F16-06CB-37A3-56E3-DBB59E811D6D}"/>
              </a:ext>
            </a:extLst>
          </p:cNvPr>
          <p:cNvGrpSpPr/>
          <p:nvPr/>
        </p:nvGrpSpPr>
        <p:grpSpPr>
          <a:xfrm>
            <a:off x="1337875" y="1956175"/>
            <a:ext cx="3471025" cy="1978688"/>
            <a:chOff x="1337875" y="1956175"/>
            <a:chExt cx="3471025" cy="1978688"/>
          </a:xfrm>
        </p:grpSpPr>
        <p:cxnSp>
          <p:nvCxnSpPr>
            <p:cNvPr id="552" name="Google Shape;552;p31">
              <a:extLst>
                <a:ext uri="{FF2B5EF4-FFF2-40B4-BE49-F238E27FC236}">
                  <a16:creationId xmlns:a16="http://schemas.microsoft.com/office/drawing/2014/main" id="{DA3CC423-2843-3D19-44FF-26A06F236E55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>
              <a:extLst>
                <a:ext uri="{FF2B5EF4-FFF2-40B4-BE49-F238E27FC236}">
                  <a16:creationId xmlns:a16="http://schemas.microsoft.com/office/drawing/2014/main" id="{1A537694-11FE-B568-B74A-7A467070504D}"/>
                </a:ext>
              </a:extLst>
            </p:cNvPr>
            <p:cNvSpPr txBox="1"/>
            <p:nvPr/>
          </p:nvSpPr>
          <p:spPr>
            <a:xfrm>
              <a:off x="4302800" y="195617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  <p:grpSp>
        <p:nvGrpSpPr>
          <p:cNvPr id="554" name="Google Shape;554;p31">
            <a:extLst>
              <a:ext uri="{FF2B5EF4-FFF2-40B4-BE49-F238E27FC236}">
                <a16:creationId xmlns:a16="http://schemas.microsoft.com/office/drawing/2014/main" id="{E3F769EB-E3EA-68FA-4864-A6504ECD733F}"/>
              </a:ext>
            </a:extLst>
          </p:cNvPr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>
              <a:extLst>
                <a:ext uri="{FF2B5EF4-FFF2-40B4-BE49-F238E27FC236}">
                  <a16:creationId xmlns:a16="http://schemas.microsoft.com/office/drawing/2014/main" id="{C554721F-63EA-80FE-F0D8-3450B2979AFE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F40A73F7-3A88-93AA-BAD8-8B80699A9E1D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  <p:sp>
        <p:nvSpPr>
          <p:cNvPr id="2" name="Google Shape;514;p31">
            <a:extLst>
              <a:ext uri="{FF2B5EF4-FFF2-40B4-BE49-F238E27FC236}">
                <a16:creationId xmlns:a16="http://schemas.microsoft.com/office/drawing/2014/main" id="{2FD9B048-E90E-3469-E3B3-5DC1F311A59F}"/>
              </a:ext>
            </a:extLst>
          </p:cNvPr>
          <p:cNvSpPr txBox="1">
            <a:spLocks/>
          </p:cNvSpPr>
          <p:nvPr/>
        </p:nvSpPr>
        <p:spPr>
          <a:xfrm>
            <a:off x="4688688" y="1993944"/>
            <a:ext cx="22102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 noProof="0" dirty="0">
                <a:solidFill>
                  <a:schemeClr val="accent2"/>
                </a:solidFill>
              </a:rPr>
              <a:t>De acción o flujo</a:t>
            </a:r>
            <a:r>
              <a:rPr lang="es-ES" sz="1400" noProof="0" dirty="0">
                <a:solidFill>
                  <a:schemeClr val="lt1"/>
                </a:solidFill>
              </a:rPr>
              <a:t> </a:t>
            </a:r>
            <a:r>
              <a:rPr lang="es-ES" sz="14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3" name="Google Shape;513;p31">
            <a:extLst>
              <a:ext uri="{FF2B5EF4-FFF2-40B4-BE49-F238E27FC236}">
                <a16:creationId xmlns:a16="http://schemas.microsoft.com/office/drawing/2014/main" id="{BDBC0A07-13B5-E6DD-0328-F4EA1BB390E0}"/>
              </a:ext>
            </a:extLst>
          </p:cNvPr>
          <p:cNvSpPr txBox="1">
            <a:spLocks/>
          </p:cNvSpPr>
          <p:nvPr/>
        </p:nvSpPr>
        <p:spPr>
          <a:xfrm>
            <a:off x="4555850" y="2524644"/>
            <a:ext cx="2212904" cy="42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noProof="0" dirty="0"/>
              <a:t>&lt; Vista dinámica &gt;</a:t>
            </a:r>
          </a:p>
        </p:txBody>
      </p:sp>
      <p:pic>
        <p:nvPicPr>
          <p:cNvPr id="4" name="Imagen 3" descr="Diagramas funcionales de bloques: Definición, ejemplos y la ...">
            <a:extLst>
              <a:ext uri="{FF2B5EF4-FFF2-40B4-BE49-F238E27FC236}">
                <a16:creationId xmlns:a16="http://schemas.microsoft.com/office/drawing/2014/main" id="{6DA04C43-147E-B4C1-FE3F-8822B24D2E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24" y="2902350"/>
            <a:ext cx="2158021" cy="161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CE3864-24B6-1C3E-9C21-70F21C138B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008" y="2991795"/>
            <a:ext cx="1162714" cy="1585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546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B6F57D6E-0752-35DD-67C5-1383E101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6B8B6BCC-0950-F427-C1B4-6FCA9DEBF33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Muestran cómo está construido el sistema &gt;</a:t>
            </a:r>
          </a:p>
        </p:txBody>
      </p:sp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AEF71B14-EEB4-145E-9286-43201D4E78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00817" y="2538776"/>
            <a:ext cx="1489595" cy="420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noProof="0" dirty="0"/>
              <a:t>&lt; Estructural 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noProof="0" dirty="0"/>
              <a:t>&lt; Alto nivel &gt;</a:t>
            </a:r>
          </a:p>
        </p:txBody>
      </p:sp>
      <p:sp>
        <p:nvSpPr>
          <p:cNvPr id="514" name="Google Shape;514;p31">
            <a:extLst>
              <a:ext uri="{FF2B5EF4-FFF2-40B4-BE49-F238E27FC236}">
                <a16:creationId xmlns:a16="http://schemas.microsoft.com/office/drawing/2014/main" id="{996B754D-15D4-8239-480E-1594083E8DD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18025" y="2008076"/>
            <a:ext cx="1489596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noProof="0" dirty="0">
                <a:solidFill>
                  <a:schemeClr val="accent2"/>
                </a:solidFill>
              </a:rPr>
              <a:t>De aplicación</a:t>
            </a:r>
            <a:r>
              <a:rPr lang="es-ES" sz="1100" noProof="0" dirty="0">
                <a:solidFill>
                  <a:schemeClr val="lt1"/>
                </a:solidFill>
              </a:rPr>
              <a:t> </a:t>
            </a:r>
            <a:r>
              <a:rPr lang="es-ES" sz="11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144923C0-B4B7-4115-2864-F37F1818E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49" y="621240"/>
            <a:ext cx="6365237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Diagramas de arquitectura </a:t>
            </a:r>
            <a:r>
              <a:rPr lang="es-ES" noProof="0" dirty="0">
                <a:solidFill>
                  <a:schemeClr val="accent6"/>
                </a:solidFill>
              </a:rPr>
              <a:t>{</a:t>
            </a:r>
            <a:r>
              <a:rPr lang="es-ES" noProof="0" dirty="0"/>
              <a:t> </a:t>
            </a:r>
          </a:p>
        </p:txBody>
      </p:sp>
      <p:grpSp>
        <p:nvGrpSpPr>
          <p:cNvPr id="516" name="Google Shape;516;p31">
            <a:extLst>
              <a:ext uri="{FF2B5EF4-FFF2-40B4-BE49-F238E27FC236}">
                <a16:creationId xmlns:a16="http://schemas.microsoft.com/office/drawing/2014/main" id="{68ADF510-87E6-2974-E5BF-8DA4222EA1F6}"/>
              </a:ext>
            </a:extLst>
          </p:cNvPr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>
              <a:extLst>
                <a:ext uri="{FF2B5EF4-FFF2-40B4-BE49-F238E27FC236}">
                  <a16:creationId xmlns:a16="http://schemas.microsoft.com/office/drawing/2014/main" id="{2726FA63-D1AF-914E-EE1F-882505F54F94}"/>
                </a:ext>
              </a:extLst>
            </p:cNvPr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8" name="Google Shape;518;p31">
              <a:extLst>
                <a:ext uri="{FF2B5EF4-FFF2-40B4-BE49-F238E27FC236}">
                  <a16:creationId xmlns:a16="http://schemas.microsoft.com/office/drawing/2014/main" id="{DB199306-6AD2-6B5C-FA3A-438A3090D336}"/>
                </a:ext>
              </a:extLst>
            </p:cNvPr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9" name="Google Shape;519;p31">
              <a:extLst>
                <a:ext uri="{FF2B5EF4-FFF2-40B4-BE49-F238E27FC236}">
                  <a16:creationId xmlns:a16="http://schemas.microsoft.com/office/drawing/2014/main" id="{F3A9DEC9-BD97-CD5A-9AE5-C2B246D5190F}"/>
                </a:ext>
              </a:extLst>
            </p:cNvPr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0" name="Google Shape;520;p31">
              <a:extLst>
                <a:ext uri="{FF2B5EF4-FFF2-40B4-BE49-F238E27FC236}">
                  <a16:creationId xmlns:a16="http://schemas.microsoft.com/office/drawing/2014/main" id="{1A104896-A6B2-DB01-1906-B504044524E2}"/>
                </a:ext>
              </a:extLst>
            </p:cNvPr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1" name="Google Shape;521;p31">
              <a:extLst>
                <a:ext uri="{FF2B5EF4-FFF2-40B4-BE49-F238E27FC236}">
                  <a16:creationId xmlns:a16="http://schemas.microsoft.com/office/drawing/2014/main" id="{CF37DA1F-7964-9E02-12D1-1BC6487EC6DF}"/>
                </a:ext>
              </a:extLst>
            </p:cNvPr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2" name="Google Shape;522;p31">
              <a:extLst>
                <a:ext uri="{FF2B5EF4-FFF2-40B4-BE49-F238E27FC236}">
                  <a16:creationId xmlns:a16="http://schemas.microsoft.com/office/drawing/2014/main" id="{F11F6A22-9BC9-9443-5007-AC41415DB030}"/>
                </a:ext>
              </a:extLst>
            </p:cNvPr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3" name="Google Shape;523;p31">
              <a:extLst>
                <a:ext uri="{FF2B5EF4-FFF2-40B4-BE49-F238E27FC236}">
                  <a16:creationId xmlns:a16="http://schemas.microsoft.com/office/drawing/2014/main" id="{C137B042-625A-2144-3641-2D40968E2D27}"/>
                </a:ext>
              </a:extLst>
            </p:cNvPr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4" name="Google Shape;524;p31">
              <a:extLst>
                <a:ext uri="{FF2B5EF4-FFF2-40B4-BE49-F238E27FC236}">
                  <a16:creationId xmlns:a16="http://schemas.microsoft.com/office/drawing/2014/main" id="{3417E434-FF23-4E4D-5141-1B440C817ADA}"/>
                </a:ext>
              </a:extLst>
            </p:cNvPr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5" name="Google Shape;525;p31">
              <a:extLst>
                <a:ext uri="{FF2B5EF4-FFF2-40B4-BE49-F238E27FC236}">
                  <a16:creationId xmlns:a16="http://schemas.microsoft.com/office/drawing/2014/main" id="{ED0F918D-8B38-BB7A-64E6-37C7008A5D7D}"/>
                </a:ext>
              </a:extLst>
            </p:cNvPr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6" name="Google Shape;526;p31">
              <a:extLst>
                <a:ext uri="{FF2B5EF4-FFF2-40B4-BE49-F238E27FC236}">
                  <a16:creationId xmlns:a16="http://schemas.microsoft.com/office/drawing/2014/main" id="{84F00228-85AF-7669-3968-DCFC699802DE}"/>
                </a:ext>
              </a:extLst>
            </p:cNvPr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7" name="Google Shape;527;p31">
              <a:extLst>
                <a:ext uri="{FF2B5EF4-FFF2-40B4-BE49-F238E27FC236}">
                  <a16:creationId xmlns:a16="http://schemas.microsoft.com/office/drawing/2014/main" id="{A28B1A8C-31A9-E8ED-8CF2-FB42968CB65B}"/>
                </a:ext>
              </a:extLst>
            </p:cNvPr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8" name="Google Shape;528;p31">
              <a:extLst>
                <a:ext uri="{FF2B5EF4-FFF2-40B4-BE49-F238E27FC236}">
                  <a16:creationId xmlns:a16="http://schemas.microsoft.com/office/drawing/2014/main" id="{896058A9-E4C6-1DCA-3522-216BE47555C6}"/>
                </a:ext>
              </a:extLst>
            </p:cNvPr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29" name="Google Shape;529;p31">
              <a:extLst>
                <a:ext uri="{FF2B5EF4-FFF2-40B4-BE49-F238E27FC236}">
                  <a16:creationId xmlns:a16="http://schemas.microsoft.com/office/drawing/2014/main" id="{23B0E12E-E880-97D6-DDD0-45D53DC79B13}"/>
                </a:ext>
              </a:extLst>
            </p:cNvPr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0" name="Google Shape;530;p31">
              <a:extLst>
                <a:ext uri="{FF2B5EF4-FFF2-40B4-BE49-F238E27FC236}">
                  <a16:creationId xmlns:a16="http://schemas.microsoft.com/office/drawing/2014/main" id="{808DA245-0619-5001-39E2-9000CCCA34AA}"/>
                </a:ext>
              </a:extLst>
            </p:cNvPr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1" name="Google Shape;531;p31">
              <a:extLst>
                <a:ext uri="{FF2B5EF4-FFF2-40B4-BE49-F238E27FC236}">
                  <a16:creationId xmlns:a16="http://schemas.microsoft.com/office/drawing/2014/main" id="{FCA9D605-ABE6-F1F0-BF12-81A6B007FB3E}"/>
                </a:ext>
              </a:extLst>
            </p:cNvPr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542" name="Google Shape;542;p31">
            <a:extLst>
              <a:ext uri="{FF2B5EF4-FFF2-40B4-BE49-F238E27FC236}">
                <a16:creationId xmlns:a16="http://schemas.microsoft.com/office/drawing/2014/main" id="{2DE46868-563E-95BD-7822-BF403828498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</a:t>
            </a:r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A5EBF58D-437B-8583-81C3-68380EA8DF6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</a:t>
            </a: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E55EF3F5-0021-294C-3625-44CD2EDF98F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545" name="Google Shape;545;p31">
            <a:extLst>
              <a:ext uri="{FF2B5EF4-FFF2-40B4-BE49-F238E27FC236}">
                <a16:creationId xmlns:a16="http://schemas.microsoft.com/office/drawing/2014/main" id="{1CFC7625-D42B-4662-EEF7-2AA292A1DDB8}"/>
              </a:ext>
            </a:extLst>
          </p:cNvPr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>
              <a:extLst>
                <a:ext uri="{FF2B5EF4-FFF2-40B4-BE49-F238E27FC236}">
                  <a16:creationId xmlns:a16="http://schemas.microsoft.com/office/drawing/2014/main" id="{18459304-226D-B637-2C9D-B8E7256B05E5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7" name="Google Shape;547;p31">
              <a:extLst>
                <a:ext uri="{FF2B5EF4-FFF2-40B4-BE49-F238E27FC236}">
                  <a16:creationId xmlns:a16="http://schemas.microsoft.com/office/drawing/2014/main" id="{21D1B977-8553-0E12-754E-91647E3B40E0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grpSp>
        <p:nvGrpSpPr>
          <p:cNvPr id="551" name="Google Shape;551;p31">
            <a:extLst>
              <a:ext uri="{FF2B5EF4-FFF2-40B4-BE49-F238E27FC236}">
                <a16:creationId xmlns:a16="http://schemas.microsoft.com/office/drawing/2014/main" id="{B1602DE5-A3ED-3433-1FE4-06FE02B4CD50}"/>
              </a:ext>
            </a:extLst>
          </p:cNvPr>
          <p:cNvGrpSpPr/>
          <p:nvPr/>
        </p:nvGrpSpPr>
        <p:grpSpPr>
          <a:xfrm>
            <a:off x="1337875" y="1958560"/>
            <a:ext cx="4283648" cy="1976303"/>
            <a:chOff x="1337875" y="1958560"/>
            <a:chExt cx="4283648" cy="1976303"/>
          </a:xfrm>
        </p:grpSpPr>
        <p:cxnSp>
          <p:nvCxnSpPr>
            <p:cNvPr id="552" name="Google Shape;552;p31">
              <a:extLst>
                <a:ext uri="{FF2B5EF4-FFF2-40B4-BE49-F238E27FC236}">
                  <a16:creationId xmlns:a16="http://schemas.microsoft.com/office/drawing/2014/main" id="{D17F5B58-A714-FBC8-EDF9-60AEA55648EF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>
              <a:extLst>
                <a:ext uri="{FF2B5EF4-FFF2-40B4-BE49-F238E27FC236}">
                  <a16:creationId xmlns:a16="http://schemas.microsoft.com/office/drawing/2014/main" id="{8A45E996-6A05-02D6-B1F8-EEAD1C9CF610}"/>
                </a:ext>
              </a:extLst>
            </p:cNvPr>
            <p:cNvSpPr txBox="1"/>
            <p:nvPr/>
          </p:nvSpPr>
          <p:spPr>
            <a:xfrm>
              <a:off x="5115423" y="1958560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  <p:grpSp>
        <p:nvGrpSpPr>
          <p:cNvPr id="554" name="Google Shape;554;p31">
            <a:extLst>
              <a:ext uri="{FF2B5EF4-FFF2-40B4-BE49-F238E27FC236}">
                <a16:creationId xmlns:a16="http://schemas.microsoft.com/office/drawing/2014/main" id="{5B306484-51AD-40C3-A8F7-8C6A1DD77E05}"/>
              </a:ext>
            </a:extLst>
          </p:cNvPr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>
              <a:extLst>
                <a:ext uri="{FF2B5EF4-FFF2-40B4-BE49-F238E27FC236}">
                  <a16:creationId xmlns:a16="http://schemas.microsoft.com/office/drawing/2014/main" id="{734056C9-4331-B579-0DA1-BA988EFBEEA4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4543E8F4-DAFC-F103-4E6D-473B277A7F9C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  <p:sp>
        <p:nvSpPr>
          <p:cNvPr id="2" name="Google Shape;514;p31">
            <a:extLst>
              <a:ext uri="{FF2B5EF4-FFF2-40B4-BE49-F238E27FC236}">
                <a16:creationId xmlns:a16="http://schemas.microsoft.com/office/drawing/2014/main" id="{7873443C-F447-4865-8E01-BB072D167C29}"/>
              </a:ext>
            </a:extLst>
          </p:cNvPr>
          <p:cNvSpPr txBox="1">
            <a:spLocks/>
          </p:cNvSpPr>
          <p:nvPr/>
        </p:nvSpPr>
        <p:spPr>
          <a:xfrm>
            <a:off x="5484478" y="1971824"/>
            <a:ext cx="1459015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100" noProof="0" dirty="0">
                <a:solidFill>
                  <a:schemeClr val="accent2"/>
                </a:solidFill>
              </a:rPr>
              <a:t>De despliegue </a:t>
            </a:r>
            <a:r>
              <a:rPr lang="es-ES" sz="1100" noProof="0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6" name="Google Shape;551;p31">
            <a:extLst>
              <a:ext uri="{FF2B5EF4-FFF2-40B4-BE49-F238E27FC236}">
                <a16:creationId xmlns:a16="http://schemas.microsoft.com/office/drawing/2014/main" id="{891F2DB8-9639-0890-6A77-BC34F46FF3AA}"/>
              </a:ext>
            </a:extLst>
          </p:cNvPr>
          <p:cNvGrpSpPr/>
          <p:nvPr/>
        </p:nvGrpSpPr>
        <p:grpSpPr>
          <a:xfrm>
            <a:off x="1351574" y="1951387"/>
            <a:ext cx="2241220" cy="1983369"/>
            <a:chOff x="1337875" y="1951494"/>
            <a:chExt cx="2241220" cy="1983369"/>
          </a:xfrm>
        </p:grpSpPr>
        <p:cxnSp>
          <p:nvCxnSpPr>
            <p:cNvPr id="7" name="Google Shape;552;p31">
              <a:extLst>
                <a:ext uri="{FF2B5EF4-FFF2-40B4-BE49-F238E27FC236}">
                  <a16:creationId xmlns:a16="http://schemas.microsoft.com/office/drawing/2014/main" id="{7BE47D56-816F-A84A-798B-780C5551641D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553;p31">
              <a:extLst>
                <a:ext uri="{FF2B5EF4-FFF2-40B4-BE49-F238E27FC236}">
                  <a16:creationId xmlns:a16="http://schemas.microsoft.com/office/drawing/2014/main" id="{EB223D98-E959-8B0C-5E05-0E06B7426BDB}"/>
                </a:ext>
              </a:extLst>
            </p:cNvPr>
            <p:cNvSpPr txBox="1"/>
            <p:nvPr/>
          </p:nvSpPr>
          <p:spPr>
            <a:xfrm>
              <a:off x="3072995" y="1951494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</p:grpSp>
      <p:sp>
        <p:nvSpPr>
          <p:cNvPr id="9" name="Google Shape;514;p31">
            <a:extLst>
              <a:ext uri="{FF2B5EF4-FFF2-40B4-BE49-F238E27FC236}">
                <a16:creationId xmlns:a16="http://schemas.microsoft.com/office/drawing/2014/main" id="{14A8F2EB-6D2A-723E-BD9C-A8477034FB70}"/>
              </a:ext>
            </a:extLst>
          </p:cNvPr>
          <p:cNvSpPr txBox="1">
            <a:spLocks/>
          </p:cNvSpPr>
          <p:nvPr/>
        </p:nvSpPr>
        <p:spPr>
          <a:xfrm>
            <a:off x="3513721" y="2008076"/>
            <a:ext cx="1601702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100" noProof="0" dirty="0">
                <a:solidFill>
                  <a:schemeClr val="accent2"/>
                </a:solidFill>
              </a:rPr>
              <a:t>De integración </a:t>
            </a:r>
            <a:r>
              <a:rPr lang="es-ES" sz="11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10" name="Google Shape;553;p31">
            <a:extLst>
              <a:ext uri="{FF2B5EF4-FFF2-40B4-BE49-F238E27FC236}">
                <a16:creationId xmlns:a16="http://schemas.microsoft.com/office/drawing/2014/main" id="{ECC08900-8D34-5E15-B5E6-F7F6E80FEB26}"/>
              </a:ext>
            </a:extLst>
          </p:cNvPr>
          <p:cNvSpPr txBox="1"/>
          <p:nvPr/>
        </p:nvSpPr>
        <p:spPr>
          <a:xfrm>
            <a:off x="6768754" y="1971824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noProof="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</p:txBody>
      </p:sp>
      <p:sp>
        <p:nvSpPr>
          <p:cNvPr id="11" name="Google Shape;514;p31">
            <a:extLst>
              <a:ext uri="{FF2B5EF4-FFF2-40B4-BE49-F238E27FC236}">
                <a16:creationId xmlns:a16="http://schemas.microsoft.com/office/drawing/2014/main" id="{C22E4E86-25A5-C389-9E10-31B72908EF6E}"/>
              </a:ext>
            </a:extLst>
          </p:cNvPr>
          <p:cNvSpPr txBox="1">
            <a:spLocks/>
          </p:cNvSpPr>
          <p:nvPr/>
        </p:nvSpPr>
        <p:spPr>
          <a:xfrm>
            <a:off x="7144152" y="1970368"/>
            <a:ext cx="1459015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100" noProof="0" dirty="0">
                <a:solidFill>
                  <a:schemeClr val="accent2"/>
                </a:solidFill>
              </a:rPr>
              <a:t>De datos </a:t>
            </a:r>
            <a:r>
              <a:rPr lang="es-ES" sz="11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798142F2-CA01-3AF2-5CD1-456C8F7E4609}"/>
              </a:ext>
            </a:extLst>
          </p:cNvPr>
          <p:cNvSpPr txBox="1">
            <a:spLocks/>
          </p:cNvSpPr>
          <p:nvPr/>
        </p:nvSpPr>
        <p:spPr>
          <a:xfrm>
            <a:off x="3339744" y="2538776"/>
            <a:ext cx="1775679" cy="42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050" noProof="0" dirty="0"/>
              <a:t>&lt; Interconexiones &gt;</a:t>
            </a:r>
          </a:p>
          <a:p>
            <a:pPr marL="0" indent="0"/>
            <a:r>
              <a:rPr lang="es-ES" sz="1050" noProof="0" dirty="0"/>
              <a:t>&lt; Internos a externos &gt;</a:t>
            </a:r>
          </a:p>
        </p:txBody>
      </p:sp>
      <p:sp>
        <p:nvSpPr>
          <p:cNvPr id="13" name="Google Shape;513;p31">
            <a:extLst>
              <a:ext uri="{FF2B5EF4-FFF2-40B4-BE49-F238E27FC236}">
                <a16:creationId xmlns:a16="http://schemas.microsoft.com/office/drawing/2014/main" id="{08E98A4D-7E44-9FCB-59BA-7DC4E296913C}"/>
              </a:ext>
            </a:extLst>
          </p:cNvPr>
          <p:cNvSpPr txBox="1">
            <a:spLocks/>
          </p:cNvSpPr>
          <p:nvPr/>
        </p:nvSpPr>
        <p:spPr>
          <a:xfrm>
            <a:off x="5410400" y="2537908"/>
            <a:ext cx="1489595" cy="42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050" noProof="0" dirty="0"/>
              <a:t>&lt; Vista física &gt;</a:t>
            </a:r>
          </a:p>
          <a:p>
            <a:pPr marL="0" indent="0"/>
            <a:r>
              <a:rPr lang="es-ES" sz="1050" noProof="0" dirty="0"/>
              <a:t>&lt; SW al </a:t>
            </a:r>
            <a:r>
              <a:rPr lang="es-ES" sz="1050" noProof="0" dirty="0" err="1"/>
              <a:t>HW</a:t>
            </a:r>
            <a:r>
              <a:rPr lang="es-ES" sz="1050" noProof="0" dirty="0"/>
              <a:t> &gt;</a:t>
            </a:r>
          </a:p>
        </p:txBody>
      </p:sp>
      <p:sp>
        <p:nvSpPr>
          <p:cNvPr id="14" name="Google Shape;513;p31">
            <a:extLst>
              <a:ext uri="{FF2B5EF4-FFF2-40B4-BE49-F238E27FC236}">
                <a16:creationId xmlns:a16="http://schemas.microsoft.com/office/drawing/2014/main" id="{020BEBAD-1BAC-03A0-C317-21A8B1692FB5}"/>
              </a:ext>
            </a:extLst>
          </p:cNvPr>
          <p:cNvSpPr txBox="1">
            <a:spLocks/>
          </p:cNvSpPr>
          <p:nvPr/>
        </p:nvSpPr>
        <p:spPr>
          <a:xfrm>
            <a:off x="7021803" y="2501068"/>
            <a:ext cx="1772791" cy="42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050" noProof="0" dirty="0"/>
              <a:t>&lt; Flujo de información &gt;</a:t>
            </a:r>
          </a:p>
          <a:p>
            <a:pPr marL="0" indent="0"/>
            <a:r>
              <a:rPr lang="es-ES" sz="1050" noProof="0" dirty="0"/>
              <a:t>&lt; Almacenamiento &gt;</a:t>
            </a:r>
          </a:p>
        </p:txBody>
      </p:sp>
      <p:pic>
        <p:nvPicPr>
          <p:cNvPr id="15" name="Imagen 14" descr="Diagrama de arquitectura de aplicación">
            <a:extLst>
              <a:ext uri="{FF2B5EF4-FFF2-40B4-BE49-F238E27FC236}">
                <a16:creationId xmlns:a16="http://schemas.microsoft.com/office/drawing/2014/main" id="{8AB0E0E6-22FB-1BCB-7EE2-B57BE4B862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18246" r="3777" b="9472"/>
          <a:stretch>
            <a:fillRect/>
          </a:stretch>
        </p:blipFill>
        <p:spPr bwMode="auto">
          <a:xfrm>
            <a:off x="1218723" y="3182661"/>
            <a:ext cx="1923952" cy="10080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Imagen 15" descr="Tutorial Gratis de Diagrama de arquitectura de datos">
            <a:extLst>
              <a:ext uri="{FF2B5EF4-FFF2-40B4-BE49-F238E27FC236}">
                <a16:creationId xmlns:a16="http://schemas.microsoft.com/office/drawing/2014/main" id="{1647E565-23EA-E198-BB6D-2A08D7B6DF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744" y="3038143"/>
            <a:ext cx="1775679" cy="1484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n 16" descr="Más ejemplos de diagramas de despliegue">
            <a:extLst>
              <a:ext uri="{FF2B5EF4-FFF2-40B4-BE49-F238E27FC236}">
                <a16:creationId xmlns:a16="http://schemas.microsoft.com/office/drawing/2014/main" id="{7598E7B6-391F-BE47-C261-2A4F6E3202E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8"/>
          <a:stretch>
            <a:fillRect/>
          </a:stretch>
        </p:blipFill>
        <p:spPr bwMode="auto">
          <a:xfrm>
            <a:off x="5271355" y="3131141"/>
            <a:ext cx="1628639" cy="13056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Imagen 17" descr="Tutorial Gratis de Diagrama de arquitectura de datos">
            <a:extLst>
              <a:ext uri="{FF2B5EF4-FFF2-40B4-BE49-F238E27FC236}">
                <a16:creationId xmlns:a16="http://schemas.microsoft.com/office/drawing/2014/main" id="{FD568972-8F53-0107-4315-458DAE85A2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803" y="3041068"/>
            <a:ext cx="2118360" cy="13957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14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/>
            <a:r>
              <a:rPr lang="es-ES" noProof="0" dirty="0">
                <a:solidFill>
                  <a:schemeClr val="accent3"/>
                </a:solidFill>
              </a:rPr>
              <a:t>Bucle</a:t>
            </a:r>
          </a:p>
          <a:p>
            <a:pPr marL="341342" lvl="0" indent="-265184"/>
            <a:r>
              <a:rPr lang="es-ES" noProof="0" dirty="0">
                <a:solidFill>
                  <a:schemeClr val="accent3"/>
                </a:solidFill>
              </a:rPr>
              <a:t>Secuencia de reglas</a:t>
            </a:r>
          </a:p>
          <a:p>
            <a:pPr marL="341342" lvl="0" indent="-265184"/>
            <a:r>
              <a:rPr lang="es-ES" noProof="0" dirty="0">
                <a:solidFill>
                  <a:schemeClr val="accent3"/>
                </a:solidFill>
              </a:rPr>
              <a:t>Modelar el ciclo y control de entradas</a:t>
            </a: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noProof="0" dirty="0"/>
              <a:t>Selección de software y diagramas </a:t>
            </a:r>
            <a:r>
              <a:rPr lang="es-ES" sz="2400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732157" y="2372263"/>
            <a:ext cx="1574043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Acción o flujo &gt;</a:t>
            </a:r>
          </a:p>
        </p:txBody>
      </p:sp>
      <p:sp>
        <p:nvSpPr>
          <p:cNvPr id="785" name="Google Shape;785;p37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s-ES" noProof="0" dirty="0">
                <a:solidFill>
                  <a:schemeClr val="accent3"/>
                </a:solidFill>
              </a:rPr>
              <a:t>Componentes de software</a:t>
            </a: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s-ES" noProof="0" dirty="0">
                <a:solidFill>
                  <a:schemeClr val="accent3"/>
                </a:solidFill>
              </a:rPr>
              <a:t>Relación entre ellos</a:t>
            </a: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s-ES" noProof="0" dirty="0">
                <a:solidFill>
                  <a:schemeClr val="accent3"/>
                </a:solidFill>
              </a:rPr>
              <a:t>Plano inicial del juego</a:t>
            </a:r>
          </a:p>
        </p:txBody>
      </p:sp>
      <p:sp>
        <p:nvSpPr>
          <p:cNvPr id="786" name="Google Shape;786;p37"/>
          <p:cNvSpPr txBox="1">
            <a:spLocks noGrp="1"/>
          </p:cNvSpPr>
          <p:nvPr>
            <p:ph type="title" idx="4"/>
          </p:nvPr>
        </p:nvSpPr>
        <p:spPr>
          <a:xfrm flipH="1">
            <a:off x="1404783" y="3309175"/>
            <a:ext cx="2401725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Aplicación &gt;</a:t>
            </a:r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&lt; El software a desarrollar fue el juego clásico de la serpiente &gt;</a:t>
            </a:r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 </a:t>
            </a: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</a:t>
            </a: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lt1"/>
                </a:solidFill>
              </a:rPr>
              <a:t>Diagrama de acción </a:t>
            </a:r>
            <a:r>
              <a:rPr lang="es-ES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853" name="Google Shape;853;p42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noProof="0" dirty="0"/>
              <a:t>Procesar la entrada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dirty="0"/>
              <a:t>Actualizar el estado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noProof="0" dirty="0"/>
              <a:t>Renderizar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dirty="0"/>
              <a:t>Esperar</a:t>
            </a:r>
            <a:endParaRPr lang="es-ES" noProof="0" dirty="0"/>
          </a:p>
        </p:txBody>
      </p:sp>
      <p:sp>
        <p:nvSpPr>
          <p:cNvPr id="854" name="Google Shape;854;p42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 </a:t>
            </a:r>
          </a:p>
        </p:txBody>
      </p:sp>
      <p:sp>
        <p:nvSpPr>
          <p:cNvPr id="855" name="Google Shape;855;p42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 </a:t>
            </a:r>
          </a:p>
        </p:txBody>
      </p:sp>
      <p:sp>
        <p:nvSpPr>
          <p:cNvPr id="856" name="Google Shape;856;p42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858" name="Google Shape;858;p42"/>
          <p:cNvGrpSpPr/>
          <p:nvPr/>
        </p:nvGrpSpPr>
        <p:grpSpPr>
          <a:xfrm>
            <a:off x="1084825" y="2556550"/>
            <a:ext cx="506100" cy="2013475"/>
            <a:chOff x="1084825" y="2556550"/>
            <a:chExt cx="506100" cy="2013475"/>
          </a:xfrm>
        </p:grpSpPr>
        <p:sp>
          <p:nvSpPr>
            <p:cNvPr id="859" name="Google Shape;859;p42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  <p:cxnSp>
          <p:nvCxnSpPr>
            <p:cNvPr id="860" name="Google Shape;860;p42"/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51CED2CA-DB1A-FDA2-9D4A-BE5808D49706}"/>
              </a:ext>
            </a:extLst>
          </p:cNvPr>
          <p:cNvSpPr/>
          <p:nvPr/>
        </p:nvSpPr>
        <p:spPr>
          <a:xfrm>
            <a:off x="5360020" y="505522"/>
            <a:ext cx="3293325" cy="41185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399971C-2B87-2789-1780-EA7CA8CE1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018" y="618639"/>
            <a:ext cx="2969905" cy="39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48559D63-0D7A-34B9-E9E2-44D102CF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>
            <a:extLst>
              <a:ext uri="{FF2B5EF4-FFF2-40B4-BE49-F238E27FC236}">
                <a16:creationId xmlns:a16="http://schemas.microsoft.com/office/drawing/2014/main" id="{809DBEDC-110D-2203-54E8-1F76580CD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4824" y="662463"/>
            <a:ext cx="6230375" cy="7275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accent2"/>
                </a:solidFill>
              </a:rPr>
              <a:t>Diagrama de aplicación </a:t>
            </a:r>
            <a:r>
              <a:rPr lang="es-ES" noProof="0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854" name="Google Shape;854;p42">
            <a:extLst>
              <a:ext uri="{FF2B5EF4-FFF2-40B4-BE49-F238E27FC236}">
                <a16:creationId xmlns:a16="http://schemas.microsoft.com/office/drawing/2014/main" id="{9CF38861-510B-B2C3-8F44-473D492A1D1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 err="1">
                <a:solidFill>
                  <a:schemeClr val="accent3"/>
                </a:solidFill>
              </a:rPr>
              <a:t>Programming</a:t>
            </a:r>
            <a:r>
              <a:rPr lang="es-ES" sz="1400" noProof="0" dirty="0">
                <a:solidFill>
                  <a:schemeClr val="accent3"/>
                </a:solidFill>
              </a:rPr>
              <a:t> </a:t>
            </a:r>
            <a:r>
              <a:rPr lang="es-ES" sz="1400" noProof="0" dirty="0" err="1">
                <a:solidFill>
                  <a:schemeClr val="accent3"/>
                </a:solidFill>
              </a:rPr>
              <a:t>Language</a:t>
            </a:r>
            <a:endParaRPr lang="es-ES" sz="1400" noProof="0" dirty="0">
              <a:solidFill>
                <a:schemeClr val="accent3"/>
              </a:solidFill>
            </a:endParaRP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5F245537-A987-A95A-5373-F0F207B9E14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 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C57B24B3-18E9-7AB8-9DD0-BDC673293AD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858" name="Google Shape;858;p42">
            <a:extLst>
              <a:ext uri="{FF2B5EF4-FFF2-40B4-BE49-F238E27FC236}">
                <a16:creationId xmlns:a16="http://schemas.microsoft.com/office/drawing/2014/main" id="{0C97D7E7-3448-855B-887E-6FE8B5F7FA1E}"/>
              </a:ext>
            </a:extLst>
          </p:cNvPr>
          <p:cNvGrpSpPr/>
          <p:nvPr/>
        </p:nvGrpSpPr>
        <p:grpSpPr>
          <a:xfrm>
            <a:off x="1084825" y="2556550"/>
            <a:ext cx="506100" cy="2013475"/>
            <a:chOff x="1084825" y="2556550"/>
            <a:chExt cx="506100" cy="2013475"/>
          </a:xfrm>
        </p:grpSpPr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2B0A2A2D-97E5-4CC0-AE54-2635B6018DEA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  <p:cxnSp>
          <p:nvCxnSpPr>
            <p:cNvPr id="860" name="Google Shape;860;p42">
              <a:extLst>
                <a:ext uri="{FF2B5EF4-FFF2-40B4-BE49-F238E27FC236}">
                  <a16:creationId xmlns:a16="http://schemas.microsoft.com/office/drawing/2014/main" id="{94FF0F22-23FD-5ABE-FBC0-4DB2ABA909AB}"/>
                </a:ext>
              </a:extLst>
            </p:cNvPr>
            <p:cNvCxnSpPr/>
            <p:nvPr/>
          </p:nvCxnSpPr>
          <p:spPr>
            <a:xfrm>
              <a:off x="1337875" y="2556550"/>
              <a:ext cx="0" cy="1377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D7BBF7D2-FC31-2422-F5C1-1914AF4EA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3BEEB2-6C93-120E-9D4B-2B8D4F598064}"/>
              </a:ext>
            </a:extLst>
          </p:cNvPr>
          <p:cNvSpPr/>
          <p:nvPr/>
        </p:nvSpPr>
        <p:spPr>
          <a:xfrm>
            <a:off x="1084824" y="1390000"/>
            <a:ext cx="6721301" cy="30910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2B842D0-7B92-4AF6-7506-A9DD43CEB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84" y="1410875"/>
            <a:ext cx="6654664" cy="30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lt1"/>
                </a:solidFill>
              </a:rPr>
              <a:t>Unidades </a:t>
            </a:r>
            <a:r>
              <a:rPr lang="es-ES" noProof="0" dirty="0">
                <a:solidFill>
                  <a:schemeClr val="accent2"/>
                </a:solidFill>
              </a:rPr>
              <a:t>3 y 4</a:t>
            </a:r>
            <a:r>
              <a:rPr lang="es-ES" noProof="0" dirty="0">
                <a:solidFill>
                  <a:schemeClr val="lt1"/>
                </a:solidFill>
              </a:rPr>
              <a:t> </a:t>
            </a:r>
            <a:r>
              <a:rPr lang="es-ES" noProof="0" dirty="0">
                <a:solidFill>
                  <a:schemeClr val="accent3"/>
                </a:solidFill>
              </a:rPr>
              <a:t>{</a:t>
            </a:r>
            <a:endParaRPr lang="es-ES" noProof="0" dirty="0">
              <a:solidFill>
                <a:schemeClr val="lt1"/>
              </a:solidFill>
            </a:endParaRPr>
          </a:p>
        </p:txBody>
      </p:sp>
      <p:sp>
        <p:nvSpPr>
          <p:cNvPr id="2523" name="Google Shape;2523;p48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El progreso inicial del juego, los diagramas de flujo y el resultado final se encuentran en el siguiente video</a:t>
            </a:r>
          </a:p>
        </p:txBody>
      </p:sp>
      <p:sp>
        <p:nvSpPr>
          <p:cNvPr id="2524" name="Google Shape;2524;p4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 </a:t>
            </a:r>
          </a:p>
        </p:txBody>
      </p:sp>
      <p:sp>
        <p:nvSpPr>
          <p:cNvPr id="2525" name="Google Shape;2525;p4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 </a:t>
            </a:r>
          </a:p>
        </p:txBody>
      </p:sp>
      <p:grpSp>
        <p:nvGrpSpPr>
          <p:cNvPr id="2527" name="Google Shape;2527;p48"/>
          <p:cNvGrpSpPr/>
          <p:nvPr/>
        </p:nvGrpSpPr>
        <p:grpSpPr>
          <a:xfrm>
            <a:off x="1084825" y="2246100"/>
            <a:ext cx="506100" cy="2323925"/>
            <a:chOff x="1084825" y="2246100"/>
            <a:chExt cx="506100" cy="2323925"/>
          </a:xfrm>
        </p:grpSpPr>
        <p:sp>
          <p:nvSpPr>
            <p:cNvPr id="2528" name="Google Shape;2528;p48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noProof="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</a:p>
          </p:txBody>
        </p:sp>
        <p:cxnSp>
          <p:nvCxnSpPr>
            <p:cNvPr id="2529" name="Google Shape;2529;p48"/>
            <p:cNvCxnSpPr/>
            <p:nvPr/>
          </p:nvCxnSpPr>
          <p:spPr>
            <a:xfrm>
              <a:off x="1337875" y="2246100"/>
              <a:ext cx="0" cy="1687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30" name="Google Shape;2530;p4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  <p:grpSp>
        <p:nvGrpSpPr>
          <p:cNvPr id="2531" name="Google Shape;2531;p48"/>
          <p:cNvGrpSpPr/>
          <p:nvPr/>
        </p:nvGrpSpPr>
        <p:grpSpPr>
          <a:xfrm>
            <a:off x="4994678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s-ES" noProof="0" dirty="0"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s-ES" noProof="0" dirty="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ES" noProof="0" dirty="0"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noProof="0" dirty="0"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 noProof="0" dirty="0"/>
              <a:t>Muchas</a:t>
            </a:r>
            <a:r>
              <a:rPr lang="es-ES" sz="5000" noProof="0" dirty="0"/>
              <a:t> </a:t>
            </a:r>
            <a:r>
              <a:rPr lang="es-ES" sz="5000" noProof="0" dirty="0">
                <a:solidFill>
                  <a:schemeClr val="accent6"/>
                </a:solidFill>
              </a:rPr>
              <a:t>{</a:t>
            </a:r>
            <a:r>
              <a:rPr lang="es-ES" sz="2800" noProof="0" dirty="0">
                <a:solidFill>
                  <a:schemeClr val="accent3"/>
                </a:solidFill>
              </a:rPr>
              <a:t> </a:t>
            </a:r>
            <a:r>
              <a:rPr lang="es-ES" sz="6000" noProof="0" dirty="0">
                <a:solidFill>
                  <a:schemeClr val="accent2"/>
                </a:solidFill>
              </a:rPr>
              <a:t>Gracias</a:t>
            </a:r>
            <a:endParaRPr lang="es-ES" sz="5000" noProof="0" dirty="0">
              <a:solidFill>
                <a:schemeClr val="accent2"/>
              </a:solidFill>
            </a:endParaRPr>
          </a:p>
        </p:txBody>
      </p:sp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Lógica de Programación </a:t>
            </a: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Esteban Rojas Tobar </a:t>
            </a:r>
          </a:p>
        </p:txBody>
      </p:sp>
      <p:sp>
        <p:nvSpPr>
          <p:cNvPr id="824" name="Google Shape;824;p40"/>
          <p:cNvSpPr txBox="1"/>
          <p:nvPr/>
        </p:nvSpPr>
        <p:spPr>
          <a:xfrm>
            <a:off x="2544750" y="3415438"/>
            <a:ext cx="506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</p:txBody>
      </p:sp>
      <p:cxnSp>
        <p:nvCxnSpPr>
          <p:cNvPr id="825" name="Google Shape;825;p40"/>
          <p:cNvCxnSpPr>
            <a:endCxn id="824" idx="0"/>
          </p:cNvCxnSpPr>
          <p:nvPr/>
        </p:nvCxnSpPr>
        <p:spPr>
          <a:xfrm>
            <a:off x="2797800" y="2876338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>
                <a:solidFill>
                  <a:schemeClr val="accent3"/>
                </a:solidFill>
              </a:rPr>
              <a:t>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340</Words>
  <Application>Microsoft Office PowerPoint</Application>
  <PresentationFormat>Presentación en pantalla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Montserrat</vt:lpstr>
      <vt:lpstr>Fira Code</vt:lpstr>
      <vt:lpstr>Arial</vt:lpstr>
      <vt:lpstr>Programming Language Workshop for Beginners by Slidesgo</vt:lpstr>
      <vt:lpstr>Evaluación ‘En contacto’ </vt:lpstr>
      <vt:lpstr>Tabla de ‘Contenidos’ {</vt:lpstr>
      <vt:lpstr>[Unidad 1] </vt:lpstr>
      <vt:lpstr>Diagramas de funcionalidad { </vt:lpstr>
      <vt:lpstr>Diagramas de arquitectura { </vt:lpstr>
      <vt:lpstr>&lt; Aplicación &gt;</vt:lpstr>
      <vt:lpstr>Diagrama de acción {</vt:lpstr>
      <vt:lpstr>Diagrama de aplicación {</vt:lpstr>
      <vt:lpstr>Unidades 3 y 4 {</vt:lpstr>
      <vt:lpstr>Muchas {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ERT</cp:lastModifiedBy>
  <cp:revision>1</cp:revision>
  <dcterms:modified xsi:type="dcterms:W3CDTF">2026-03-02T03:11:37Z</dcterms:modified>
</cp:coreProperties>
</file>